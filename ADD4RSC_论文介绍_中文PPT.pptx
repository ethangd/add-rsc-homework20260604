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微软雅黑"/>
              </a:defRPr>
            </a:pPr>
            <a:r>
              <a:t>自适应差分去噪网络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25603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b="1">
                <a:solidFill>
                  <a:srgbClr val="0096D6"/>
                </a:solidFill>
                <a:latin typeface="微软雅黑"/>
              </a:defRPr>
            </a:pPr>
            <a:r>
              <a:t>面向呼吸音分类的自适应差分去噪方法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918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888899"/>
                </a:solidFill>
                <a:latin typeface="微软雅黑"/>
              </a:defRPr>
            </a:pPr>
            <a:r>
              <a:t>Adaptive Differential Denoising for Respiratory Sounds Classification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42062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Gaoyang Dong · Zhicheng Zhang · Ping Sun · Minghui Zhang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45720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微软雅黑"/>
              </a:defRPr>
            </a:pPr>
            <a:r>
              <a:t>南昌大学信息工程学院 · 复旦大学计算机科学与技术学院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5303520"/>
            <a:ext cx="2560320" cy="4572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754880" y="53035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Interspeech 2025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59436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ICBHI 2017 Score: 65.53%  |  超越SOTA +1.99%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微软雅黑"/>
              </a:defRPr>
            </a:pPr>
            <a:r>
              <a:t>01 研究背景与动机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27432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2743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微软雅黑"/>
              </a:defRPr>
            </a:pPr>
            <a:r>
              <a:t>核心挑战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自动呼吸音分类(ARSC)面临两大难题: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1. 真实场景背景噪声干扰(心音、环境噪声等)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2. 标注样本稀缺，数据不足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传统方法缺陷: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谱减法/维纳滤波：需纯净参考信号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Butterworth滤波：固定截止频率不自适应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深度去噪模型：需配对干净/噪声数据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噪声与诊断特征频谱重叠(如心音掩盖细裂纹音)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760720" cy="27432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73152" cy="27432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  <a:latin typeface="微软雅黑"/>
              </a:defRPr>
            </a:pPr>
            <a:r>
              <a:t>研究意义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002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非侵入式肺部疾病诊断工具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哮喘、肺炎、COPD等疾病筛查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远程医疗应用价值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资源匮乏地区早期筛查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数字听诊器与可穿戴传感器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首次探索深度学习去噪技术用于呼吸音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摆脱'先去噪再分类'的传统顺序范式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隐式去噪，无需干净标签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471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42976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三大核心创新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4754880"/>
            <a:ext cx="3566160" cy="16459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57200" y="4754880"/>
            <a:ext cx="73152" cy="16459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4892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微软雅黑"/>
              </a:defRPr>
            </a:pPr>
            <a:r>
              <a:t>自适应频域滤波器(AFF)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257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可学习谱掩码 + 软阈值(SoftShrink)</a:t>
            </a:r>
          </a:p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消除噪声同时保留诊断性高频成分</a:t>
            </a:r>
          </a:p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自适应实例级掩码机制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97680" y="4754880"/>
            <a:ext cx="3566160" cy="16459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97680" y="4754880"/>
            <a:ext cx="73152" cy="16459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80560" y="4892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微软雅黑"/>
              </a:defRPr>
            </a:pPr>
            <a:r>
              <a:t>差分去噪层(DDL)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80560" y="5257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基于差分注意力机制(MHDA)</a:t>
            </a:r>
          </a:p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通过增强样本对比抑制噪声扰动</a:t>
            </a:r>
          </a:p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双路注意力差分: σ(Q₁K₁ᵀ) - λ·σ(Q₂K₂ᵀ)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138160" y="4754880"/>
            <a:ext cx="3566160" cy="16459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138160" y="4754880"/>
            <a:ext cx="73152" cy="1645920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321040" y="489204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A05CF0"/>
                </a:solidFill>
                <a:latin typeface="微软雅黑"/>
              </a:defRPr>
            </a:pPr>
            <a:r>
              <a:t>偏置去噪损失(BDL)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1040" y="5257800"/>
            <a:ext cx="32918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联合优化分类精度与鲁棒性</a:t>
            </a:r>
          </a:p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无需纯净标签/配对数据</a:t>
            </a:r>
          </a:p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· 标签平滑注入医学先验知识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微软雅黑"/>
              </a:defRPr>
            </a:pPr>
            <a:r>
              <a:t>02 模型架构总览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188720"/>
            <a:ext cx="201168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188720"/>
            <a:ext cx="2011680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8C42"/>
                </a:solidFill>
                <a:latin typeface="微软雅黑"/>
              </a:defRPr>
            </a:pPr>
            <a:r>
              <a:t>预处理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7373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重采样16kHz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8秒定长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Mel频谱图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468880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9" name="Rectangle 8"/>
          <p:cNvSpPr/>
          <p:nvPr/>
        </p:nvSpPr>
        <p:spPr>
          <a:xfrm>
            <a:off x="2697480" y="1188720"/>
            <a:ext cx="201168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697480" y="1188720"/>
            <a:ext cx="201168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0096D6"/>
                </a:solidFill>
                <a:latin typeface="微软雅黑"/>
              </a:defRPr>
            </a:pPr>
            <a:r>
              <a:t>AFF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17373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自适应频域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滤波器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FFT→Linear→ReLU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→Linear→SoftShrink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→IFFT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937760" y="1188720"/>
            <a:ext cx="201168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937760" y="1188720"/>
            <a:ext cx="201168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4ECB71"/>
                </a:solidFill>
                <a:latin typeface="微软雅黑"/>
              </a:defRPr>
            </a:pPr>
            <a:r>
              <a:t>DDL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0" y="17373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差分去噪层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LN→MHDA→Add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→LN→SwiGLU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→Add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49440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178040" y="1188720"/>
            <a:ext cx="201168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178040" y="1188720"/>
            <a:ext cx="2011680" cy="54864"/>
          </a:xfrm>
          <a:prstGeom prst="rect">
            <a:avLst/>
          </a:prstGeom>
          <a:solidFill>
            <a:srgbClr val="555E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26948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555E7B"/>
                </a:solidFill>
                <a:latin typeface="微软雅黑"/>
              </a:defRPr>
            </a:pPr>
            <a:r>
              <a:t>Backbone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69480" y="17373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主干网络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ResNet50 或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AST-Base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89720" y="2377440"/>
            <a:ext cx="228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→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418320" y="1188720"/>
            <a:ext cx="201168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418320" y="1188720"/>
            <a:ext cx="2011680" cy="54864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509760" y="1325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05CF0"/>
                </a:solidFill>
                <a:latin typeface="微软雅黑"/>
              </a:defRPr>
            </a:pPr>
            <a:r>
              <a:t>Classifier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509760" y="1737360"/>
            <a:ext cx="18288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分类器</a:t>
            </a:r>
          </a:p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4类输出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57200" y="3931920"/>
            <a:ext cx="112471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40080" y="40690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联合损失函数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45720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ℒ = β · ℒ_Bias Denoise + (1-β) · ℒ_CE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" y="521208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ℒ_Bias Denoise: 偏置去噪损失 — 标签平滑交叉熵, 不需纯净标签, 注入医学先验知识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ℒ_CE: 分类交叉熵损失 — 保障分类精度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β = 0.5: 控制去噪引导与分类精度之间的平衡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微软雅黑"/>
              </a:defRPr>
            </a:pPr>
            <a:r>
              <a:t>03 自适应频域滤波器 (AFF)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760720" cy="32004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32004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微软雅黑"/>
              </a:defRPr>
            </a:pPr>
            <a:r>
              <a:t>算法原理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864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Step 1: FFT变换 → 获取频域表示 X(U,V)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X(U,V) = Σ Σ X(t,f) · e^(-2πi(Ut+Vf))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Step 2: 可学习谱掩码 ℳ(·) 滤波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由 Linear → ReLU → Linear 组成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实例自适应，逐样本生成掩码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Step 3: 软阈值(SoftShrink)稀疏化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Sα(x) = sign(x) · max{|x| - α, 0}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α=0.02 控制稀疏度，抑制噪声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Step 4: IFFT逆变换 → 回到时频域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X̂(t,f) = F⁻¹[Sα(ℳ(X(U,V))) ⊙ X(U,V)]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0352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73152" cy="18288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微软雅黑"/>
              </a:defRPr>
            </a:pPr>
            <a:r>
              <a:t>核心设计特点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频域卷积定理: 时域卷积 = 频域逐元素乘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可学习实例自适应掩码 ℳ(·)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SoftShrink软阈值 → 噪声抑制+稀疏化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残差连接: 保留原始信号信息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400800" y="3108960"/>
            <a:ext cx="5303520" cy="11887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400800" y="3108960"/>
            <a:ext cx="73152" cy="1188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83680" y="324612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B71"/>
                </a:solidFill>
                <a:latin typeface="微软雅黑"/>
              </a:defRPr>
            </a:pPr>
            <a:r>
              <a:t>vs 传统滤波方法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83680" y="361188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传统方法: 固定截止频率, 非自适应, 需纯净参考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AFF方法: 可学习掩码, 实例自适应, 无需纯净数据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572000"/>
            <a:ext cx="11247120" cy="16459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1124712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47091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关键公式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50749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微软雅黑"/>
              </a:defRPr>
            </a:pPr>
            <a:r>
              <a:t>X̂(t,f) = F⁻¹ [ Sα(ℳ(X(U,V))) ⊙ X(U,V) 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548640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CCCCCC"/>
                </a:solidFill>
                <a:latin typeface="微软雅黑"/>
              </a:defRPr>
            </a:pPr>
            <a:r>
              <a:t>Sα(x) = sign(x) · max{|x| - α, 0}      α = 0.02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585216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微软雅黑"/>
              </a:defRPr>
            </a:pPr>
            <a:r>
              <a:t>ℳ(·): 可学习实例自适应掩码 = Linear → ReLU → Linear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5486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B71"/>
                </a:solidFill>
                <a:latin typeface="微软雅黑"/>
              </a:defRPr>
            </a:pPr>
            <a:r>
              <a:t>04 差分去噪层 (DDL) 与多头差分注意力 (MHDA)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76072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B71"/>
                </a:solidFill>
                <a:latin typeface="微软雅黑"/>
              </a:defRPr>
            </a:pPr>
            <a:r>
              <a:t>差分去噪层(DDL) 流程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Input → LayerNorm → MHDA → 残差加法 → LayerNorm → SwiGLU → 残差加法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LN(层归一化): 稳定特征分布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减轻不同录音条件带来的变化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MHDA(多头差分注意力): 核心创新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双路注意力差分，抑制噪声敏感变化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保留稳定、高置信度的分类关键特征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SwiGLU: 非线性激活 + 平滑梯度流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保留判别性特征，确保信息不丢失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0352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73152" cy="2560320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5CF0"/>
                </a:solidFill>
                <a:latin typeface="微软雅黑"/>
              </a:defRPr>
            </a:pPr>
            <a:r>
              <a:t>MHDA 差分注意力机制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投影分解: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[Q₁; Q₂] = X·Wᵠ,  [K₁; K₂] = X·Wᵏ,  V = X·Wᵛ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差分注意力计算: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A = (σ(Q₁K₁ᵀ/√d) - λ·σ(Q₂K₂ᵀ/√d)) · V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λ: 可学习缩放因子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λ = exp(q₁·k₁) - exp(q₂·k₂) + λ_init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λ_init = 0.8 - 0.6·exp(-0.3·depth)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后处理: GroupNorm → Concat → Linear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微软雅黑"/>
              </a:defRPr>
            </a:pPr>
            <a:r>
              <a:t>差分注意力的核心思想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40080" y="4389120"/>
            <a:ext cx="530352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40080" y="4389120"/>
            <a:ext cx="73152" cy="1828800"/>
          </a:xfrm>
          <a:prstGeom prst="rect">
            <a:avLst/>
          </a:prstGeom>
          <a:solidFill>
            <a:srgbClr val="8844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884444"/>
                </a:solidFill>
                <a:latin typeface="微软雅黑"/>
              </a:defRPr>
            </a:pPr>
            <a:r>
              <a:t>传统注意力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892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σ(QKᵀ) · V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· 单路softmax注意力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· 对噪声敏感，无法区分噪声与信号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· 噪声变化会直接影响注意力分布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4389120"/>
            <a:ext cx="530352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126480" y="4389120"/>
            <a:ext cx="73152" cy="18288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309360" y="452628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B71"/>
                </a:solidFill>
                <a:latin typeface="微软雅黑"/>
              </a:defRPr>
            </a:pPr>
            <a:r>
              <a:t>差分注意力 (MHDA)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4892040"/>
            <a:ext cx="50292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(σ(Q₁K₁ᵀ) - λ·σ(Q₂K₂ᵀ)) · V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· 双路注意力差分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· 过滤噪声敏感变化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· 保留稳定高置信度特征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A05CF0"/>
                </a:solidFill>
                <a:latin typeface="微软雅黑"/>
              </a:defRPr>
            </a:pPr>
            <a:r>
              <a:t>05 偏置去噪损失 (Bias Denoise Loss)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760720" cy="27432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2743200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5CF0"/>
                </a:solidFill>
                <a:latin typeface="微软雅黑"/>
              </a:defRPr>
            </a:pPr>
            <a:r>
              <a:t>联合损失函数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486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ℒ = β · ℒ_Bias Denoise + (1-β) · ℒ_CE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ℒ_CE: 标准交叉熵分类损失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保障分类精度的基础损失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ℒ_Bias Denoise: 偏置去噪损失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ℒ_BD = -Σ [y_c(1-ε) + ε/C] · log[φ(Norm(p))]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ε=0.2: 标签平滑参数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C=4: 分类类别数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φ: 1×1卷积映射去噪特征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p: DDL输出的去噪特征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β=0.5: 平衡去噪与分类的权重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097280"/>
            <a:ext cx="5303520" cy="27432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1097280"/>
            <a:ext cx="73152" cy="274320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微软雅黑"/>
              </a:defRPr>
            </a:pPr>
            <a:r>
              <a:t>设计思想与优势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0" y="1600200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无需纯净标签/配对数据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只依赖类别标签 — 适合真实部署场景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标签平滑注入医学先验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ε作为不确定性缓冲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防止过度自信地移除模糊频段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防止诊断信息丢失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临床噪声与目标信号频谱重叠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(如心音掩盖细裂纹音)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ε防止错误删除含诊断信息的频段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★ 联合优化: 分类精度 + 噪声鲁棒性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114800"/>
            <a:ext cx="1124712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4114800"/>
            <a:ext cx="11247120" cy="54864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05CF0"/>
                </a:solidFill>
                <a:latin typeface="微软雅黑"/>
              </a:defRPr>
            </a:pPr>
            <a:r>
              <a:t>关键公式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66344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  <a:latin typeface="微软雅黑"/>
              </a:defRPr>
            </a:pPr>
            <a:r>
              <a:t>ℒ = β · ℒ_Bias Denoise + (1-β) · ℒ_CE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5120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A05CF0"/>
                </a:solidFill>
                <a:latin typeface="微软雅黑"/>
              </a:defRPr>
            </a:pPr>
            <a:r>
              <a:t>ℒ_BD = -Σ [y_c(1-ε) + ε/C] · log[φ(Norm(p))]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" y="56692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888899"/>
                </a:solidFill>
                <a:latin typeface="微软雅黑"/>
              </a:defRPr>
            </a:pPr>
            <a:r>
              <a:t>β=0.5 | ε=0.2 | C=4 | α=0.02 | φ: 1×1 Conv</a:t>
            </a:r>
          </a:p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不需要配对干净/噪声数据 — 仅依赖类别标签 — 关键适用于真实场景部署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微软雅黑"/>
              </a:defRPr>
            </a:pPr>
            <a:r>
              <a:t>06 实验结果 — SOTA对比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8C42"/>
                </a:solidFill>
                <a:latin typeface="微软雅黑"/>
              </a:defRPr>
            </a:pPr>
            <a:r>
              <a:t>CNN-based 方法对比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微软雅黑"/>
              </a:defRPr>
            </a:pPr>
            <a:r>
              <a:t>模型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微软雅黑"/>
              </a:defRPr>
            </a:pPr>
            <a:r>
              <a:t>Sp(%)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832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微软雅黑"/>
              </a:defRPr>
            </a:pPr>
            <a:r>
              <a:t>Se(%)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48056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96D6"/>
                </a:solidFill>
                <a:latin typeface="微软雅黑"/>
              </a:defRPr>
            </a:pPr>
            <a:r>
              <a:t>Score(%)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LungRN+NL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860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63.20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41.32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8056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52.26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RespireNet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72.30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8328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40.10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56.20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StochNorm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78.86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38328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36.40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8056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57.63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CoTuning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2860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79.34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37.24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8056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58.29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SCL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8600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75.95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38328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39.15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4805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57.55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Ours(ResNet50)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28600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83.76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38328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34.18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48056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58.97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4008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  <a:latin typeface="微软雅黑"/>
              </a:defRPr>
            </a:pPr>
            <a:r>
              <a:t>Transformer-based 方法对比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400800" y="1417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  <a:latin typeface="微软雅黑"/>
              </a:defRPr>
            </a:pPr>
            <a:r>
              <a:t>模型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2960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  <a:latin typeface="微软雅黑"/>
              </a:defRPr>
            </a:pPr>
            <a:r>
              <a:t>Sp(%)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  <a:latin typeface="微软雅黑"/>
              </a:defRPr>
            </a:pPr>
            <a:r>
              <a:t>Se(%)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424160" y="1417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  <a:latin typeface="微软雅黑"/>
              </a:defRPr>
            </a:pPr>
            <a:r>
              <a:t>Score(%)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00800" y="17373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AFT on Mixed-500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80.72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32688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42.86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424160" y="17373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61.79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0" y="20116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AST Fine-tuning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2960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77.14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41.97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24160" y="20116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59.55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00800" y="22860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Patch-Mix CL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81.66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932688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43.07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42416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62.37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400800" y="256032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M2D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22960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81.51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45.08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10424160" y="2560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63.29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0" y="283464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DAT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22960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77.11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932688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42.50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424160" y="28346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59.81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0" y="310896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BTS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22960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81.40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45.67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424160" y="3108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63.54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0" y="33832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LungAdapter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822960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80.43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932688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44.37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10424160" y="33832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62.40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400800" y="365760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Ours(AST)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822960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85.13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932688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45.94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0424160" y="36576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D700"/>
                </a:solidFill>
                <a:latin typeface="微软雅黑"/>
              </a:defRPr>
            </a:pPr>
            <a:r>
              <a:t>65.53</a:t>
            </a:r>
          </a:p>
        </p:txBody>
      </p:sp>
      <p:sp>
        <p:nvSpPr>
          <p:cNvPr id="70" name="Rectangle 69"/>
          <p:cNvSpPr/>
          <p:nvPr/>
        </p:nvSpPr>
        <p:spPr>
          <a:xfrm>
            <a:off x="457200" y="3840480"/>
            <a:ext cx="1124712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Rectangle 70"/>
          <p:cNvSpPr/>
          <p:nvPr/>
        </p:nvSpPr>
        <p:spPr>
          <a:xfrm>
            <a:off x="457200" y="3840480"/>
            <a:ext cx="112471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640080" y="3977639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性能亮点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640080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96D6"/>
                </a:solidFill>
                <a:latin typeface="微软雅黑"/>
              </a:defRPr>
            </a:pPr>
            <a:r>
              <a:t>🏆 Score: 65.53%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640080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超越前最佳BTS(63.54%) +1.99%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4389119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4ECB71"/>
                </a:solidFill>
                <a:latin typeface="微软雅黑"/>
              </a:defRPr>
            </a:pPr>
            <a:r>
              <a:t>🏆 Sp: 85.13%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4389119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超越RepAugment(82.47%) +2.66%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8138158" y="4434840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8C42"/>
                </a:solidFill>
                <a:latin typeface="微软雅黑"/>
              </a:defRPr>
            </a:pPr>
            <a:r>
              <a:t>🏆 Se: 45.94%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8138158" y="49377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超越BTS(45.67%) +0.27%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640080" y="539496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CCCC"/>
                </a:solidFill>
                <a:latin typeface="微软雅黑"/>
              </a:defRPr>
            </a:pPr>
            <a:r>
              <a:t>CNN和Transformer两种架构均取得领先 → 验证了自适应差分去噪机制的架构无关性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微软雅黑"/>
              </a:defRPr>
            </a:pPr>
            <a:r>
              <a:t>Sp和Se同时提升(传统呈权衡关系) → 有效将信号模式与噪声干扰解耦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4ECB71"/>
                </a:solidFill>
                <a:latin typeface="微软雅黑"/>
              </a:defRPr>
            </a:pPr>
            <a:r>
              <a:t>07 消融实验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77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888899"/>
                </a:solidFill>
                <a:latin typeface="微软雅黑"/>
              </a:defRPr>
            </a:pPr>
            <a:r>
              <a:t>Backbone: AST | 数据集: ICBHI 2017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280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  <a:latin typeface="微软雅黑"/>
              </a:defRPr>
            </a:pPr>
            <a:r>
              <a:t>配置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  <a:latin typeface="微软雅黑"/>
              </a:defRPr>
            </a:pPr>
            <a:r>
              <a:t>Sp(%)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  <a:latin typeface="微软雅黑"/>
              </a:defRPr>
            </a:pPr>
            <a:r>
              <a:t>Se(%)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  <a:latin typeface="微软雅黑"/>
              </a:defRPr>
            </a:pPr>
            <a:r>
              <a:t>Score(%)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280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  <a:latin typeface="微软雅黑"/>
              </a:defRPr>
            </a:pPr>
            <a:r>
              <a:t>Δ Score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0" y="1280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  <a:latin typeface="微软雅黑"/>
              </a:defRPr>
            </a:pPr>
            <a:r>
              <a:t>说明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600200"/>
            <a:ext cx="11247120" cy="274320"/>
          </a:xfrm>
          <a:prstGeom prst="rect">
            <a:avLst/>
          </a:prstGeom>
          <a:solidFill>
            <a:srgbClr val="3333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16002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888899"/>
                </a:solidFill>
                <a:latin typeface="微软雅黑"/>
              </a:defRPr>
            </a:pPr>
            <a:r>
              <a:t>Baseline (AST)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16002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888899"/>
                </a:solidFill>
                <a:latin typeface="微软雅黑"/>
              </a:defRPr>
            </a:pPr>
            <a:r>
              <a:t>62.54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9659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w AFF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82.47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84048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44.47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63.47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35040" y="19659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+0.93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132320" y="19659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仅自适应频域滤波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228600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w DDL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83.73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84048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44.03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93776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63.88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035040" y="228600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+1.34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132320" y="228600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仅差分去噪层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260604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w AFF+DDL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43200" y="2606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84.41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606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44.78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937760" y="2606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64.60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35040" y="260604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+2.06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132320" y="260604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两组件组合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" y="292608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w AFF+ℒ_BD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74320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83.76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4048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44.62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64.19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0" y="292608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+1.65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132320" y="292608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AFF+偏置去噪损失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" y="324612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w DDL+ℒ_BD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74320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84.54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84048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44.32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93776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64.43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5040" y="32461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+1.89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0" y="324612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DDL+偏置去噪损失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57200" y="35661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Ours (完整)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274320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85.13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84048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45.94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93776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65.53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035040" y="356616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+2.99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32320" y="3566160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D700"/>
                </a:solidFill>
                <a:latin typeface="微软雅黑"/>
              </a:defRPr>
            </a:pPr>
            <a:r>
              <a:t>三组件完整模型</a:t>
            </a:r>
          </a:p>
        </p:txBody>
      </p:sp>
      <p:sp>
        <p:nvSpPr>
          <p:cNvPr id="50" name="Rectangle 49"/>
          <p:cNvSpPr/>
          <p:nvPr/>
        </p:nvSpPr>
        <p:spPr>
          <a:xfrm>
            <a:off x="457200" y="3931920"/>
            <a:ext cx="1124712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457200" y="3931920"/>
            <a:ext cx="112471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640080" y="40690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4ECB71"/>
                </a:solidFill>
                <a:latin typeface="微软雅黑"/>
              </a:defRPr>
            </a:pPr>
            <a:r>
              <a:t>消融实验结论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64008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96D6"/>
                </a:solidFill>
                <a:latin typeface="微软雅黑"/>
              </a:defRPr>
            </a:pPr>
            <a:r>
              <a:t>AFF单独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4008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Score +0.93% → 自适应频域滤波有效抑制噪声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347472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微软雅黑"/>
              </a:defRPr>
            </a:pPr>
            <a:r>
              <a:t>DDL单独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47472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Score +1.34% → 差分注意力比AFF更强的去噪能力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30936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8C42"/>
                </a:solidFill>
                <a:latin typeface="微软雅黑"/>
              </a:defRPr>
            </a:pPr>
            <a:r>
              <a:t>AFF+DDL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30936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Score +2.06% → 两组件互补, 协同增强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9144000" y="4480560"/>
            <a:ext cx="2560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D700"/>
                </a:solidFill>
                <a:latin typeface="微软雅黑"/>
              </a:defRPr>
            </a:pPr>
            <a:r>
              <a:t>完整模型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144000" y="489204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Score +2.99% → 三组件协同达到最优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64008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CCCCC"/>
                </a:solidFill>
                <a:latin typeface="微软雅黑"/>
              </a:defRPr>
            </a:pPr>
            <a:r>
              <a:t>每个组件都至关重要，三者整合产生最优分类精度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640080" y="58521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微软雅黑"/>
              </a:defRPr>
            </a:pPr>
            <a:r>
              <a:t>DDL在噪声抑制和特征精炼中作用更显著 | AFF+DDL组合比单独任一组件提升更多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8C42"/>
                </a:solidFill>
                <a:latin typeface="微软雅黑"/>
              </a:defRPr>
            </a:pPr>
            <a:r>
              <a:t>08 实验设置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097280"/>
            <a:ext cx="530352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73152" cy="2560320"/>
          </a:xfrm>
          <a:prstGeom prst="rect">
            <a:avLst/>
          </a:prstGeom>
          <a:solidFill>
            <a:srgbClr val="FF8C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2344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FF8C42"/>
                </a:solidFill>
                <a:latin typeface="微软雅黑"/>
              </a:defRPr>
            </a:pPr>
            <a:r>
              <a:t>数据集: ICBHI 2017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600200"/>
            <a:ext cx="50292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126位受试者真实录音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包含心音、环境噪声、传感器伪影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采样率: 4kHz ~ 44.1kHz → 统一重采样16kHz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呼吸周期时长: 0.2s ~ 16.2s → 固定8秒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短录音: 循环填充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· 长录音: 截断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4类分类: Normal / Crackle / Wheeze / Both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官方60-40分割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Mel频谱图: 64 Mel滤波器, 窗口1024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0" y="1097280"/>
            <a:ext cx="5760720" cy="256032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943600" y="1097280"/>
            <a:ext cx="73152" cy="256032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26480" y="12344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0096D6"/>
                </a:solidFill>
                <a:latin typeface="微软雅黑"/>
              </a:defRPr>
            </a:pPr>
            <a:r>
              <a:t>训练配置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600200"/>
            <a:ext cx="548640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框架: PyTorch 2.3.1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GPU: Tesla V100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优化器: Adam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学习率: 5e-5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权重衰减: 0.1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Batch Size: 8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Epochs: 50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Backbone: ResNet50 &amp; AST-Base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(AudioSet预训练)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3840480"/>
            <a:ext cx="530352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57200" y="3840480"/>
            <a:ext cx="73152" cy="22860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39776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4ECB71"/>
                </a:solidFill>
                <a:latin typeface="微软雅黑"/>
              </a:defRPr>
            </a:pPr>
            <a:r>
              <a:t>评估指标 (ICBHI官方)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4343400"/>
            <a:ext cx="50292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Se (灵敏度): 正确识别异常声音的比例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Se = #正确识别异常 / #总异常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Sp (特异度): 正确识别正常声音的比例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Sp = #正确识别正常 / #总正常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Score = (Se + Sp) / 2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   异常与正常识别率的平均值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0" y="3840480"/>
            <a:ext cx="576072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943600" y="3840480"/>
            <a:ext cx="73152" cy="2286000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126480" y="39776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700" b="1">
                <a:solidFill>
                  <a:srgbClr val="A05CF0"/>
                </a:solidFill>
                <a:latin typeface="微软雅黑"/>
              </a:defRPr>
            </a:pPr>
            <a:r>
              <a:t>关键超参数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4343400"/>
            <a:ext cx="54864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β = 0.5        (去噪损失权重)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α = 0.02       (SoftShrink阈值)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ε = 0.2        (标签平滑参数)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d_model = 256  (DDL隐藏维度)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num_heads = 8  (MHDA注意力头数)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depth = 6      (DDL层数)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λ_init = 0.8 - 0.6·exp(-0.3·depth)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D700"/>
                </a:solidFill>
                <a:latin typeface="微软雅黑"/>
              </a:defRPr>
            </a:pPr>
            <a:r>
              <a:t>09 总结与展望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0584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96D6"/>
                </a:solidFill>
                <a:latin typeface="微软雅黑"/>
              </a:defRPr>
            </a:pPr>
            <a:r>
              <a:t>核心创新回顾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6616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463040"/>
            <a:ext cx="3566160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0096D6"/>
                </a:solidFill>
                <a:latin typeface="微软雅黑"/>
              </a:defRPr>
            </a:pPr>
            <a:r>
              <a:t>自适应频域滤波器(AFF)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9202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可学习谱掩码+SoftShrink</a:t>
            </a:r>
          </a:p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频域自适应噪声抑制</a:t>
            </a:r>
          </a:p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保留诊断性高频成分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463040"/>
            <a:ext cx="356616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297680" y="1463040"/>
            <a:ext cx="356616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38912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4ECB71"/>
                </a:solidFill>
                <a:latin typeface="微软雅黑"/>
              </a:defRPr>
            </a:pPr>
            <a:r>
              <a:t>差分去噪层(DDL)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89120" y="19202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多头差分注意力(MHDA)</a:t>
            </a:r>
          </a:p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σ(Q₁K₁ᵀ)-λ·σ(Q₂K₂ᵀ)</a:t>
            </a:r>
          </a:p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噪声变化过滤+特征保留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38160" y="1463040"/>
            <a:ext cx="3566160" cy="18288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38160" y="1463040"/>
            <a:ext cx="3566160" cy="54864"/>
          </a:xfrm>
          <a:prstGeom prst="rect">
            <a:avLst/>
          </a:prstGeom>
          <a:solidFill>
            <a:srgbClr val="A05C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554480"/>
            <a:ext cx="3383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700" b="1">
                <a:solidFill>
                  <a:srgbClr val="A05CF0"/>
                </a:solidFill>
                <a:latin typeface="微软雅黑"/>
              </a:defRPr>
            </a:pPr>
            <a:r>
              <a:t>偏置去噪损失(BDL)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1920240"/>
            <a:ext cx="33832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标签平滑交叉熵</a:t>
            </a:r>
          </a:p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无需纯净标签</a:t>
            </a:r>
          </a:p>
          <a:p>
            <a:pPr algn="ctr">
              <a:defRPr sz="1300" b="0">
                <a:solidFill>
                  <a:srgbClr val="CCCCCC"/>
                </a:solidFill>
                <a:latin typeface="微软雅黑"/>
              </a:defRPr>
            </a:pPr>
            <a:r>
              <a:t>医学先验+不确定性缓冲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3474720"/>
            <a:ext cx="11247120" cy="13716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457200" y="3474720"/>
            <a:ext cx="11247120" cy="54864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361188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D700"/>
                </a:solidFill>
                <a:latin typeface="微软雅黑"/>
              </a:defRPr>
            </a:pPr>
            <a:r>
              <a:t>性能总结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D700"/>
                </a:solidFill>
                <a:latin typeface="微软雅黑"/>
              </a:defRPr>
            </a:pPr>
            <a:r>
              <a:t>Score: 65.53%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434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超越SOTA +1.99%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89119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4ECB71"/>
                </a:solidFill>
                <a:latin typeface="微软雅黑"/>
              </a:defRPr>
            </a:pPr>
            <a:r>
              <a:t>Sp: 85.13%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389119" y="4434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超越RepAugment +2.66%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38158" y="40233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8C42"/>
                </a:solidFill>
                <a:latin typeface="微软雅黑"/>
              </a:defRPr>
            </a:pPr>
            <a:r>
              <a:t>Se: 45.94%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38158" y="4434840"/>
            <a:ext cx="3474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超越BTS +0.27%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5029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96D6"/>
                </a:solidFill>
                <a:latin typeface="微软雅黑"/>
              </a:defRPr>
            </a:pPr>
            <a:r>
              <a:t>未来展望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39496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① 探索更多数据集验证泛化性 (如其他呼吸音数据库)</a:t>
            </a:r>
          </a:p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② 研究与其他 backbone 的兼容性 (如 HTS-AT, Swin Transformer)</a:t>
            </a:r>
          </a:p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③ 扩展至更多分类任务 (如2类异常/正常分类, 3类诊断分类)</a:t>
            </a:r>
          </a:p>
          <a:p>
            <a:pPr algn="l">
              <a:defRPr sz="1500" b="0">
                <a:solidFill>
                  <a:srgbClr val="CCCCCC"/>
                </a:solidFill>
                <a:latin typeface="微软雅黑"/>
              </a:defRPr>
            </a:pPr>
            <a:r>
              <a:t>④ 结合更强数据增强策略进一步提升性能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0096D6"/>
                </a:solidFill>
                <a:latin typeface="微软雅黑"/>
              </a:defRPr>
            </a:pPr>
            <a:r>
              <a:t>10 参考文献 &amp; 致谢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[1] Pramono et al., Automatic adventitious respiratory sound analysis, PloS one, 2017</a:t>
            </a:r>
          </a:p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[3] Gairola et al., RespireNet, EMBC 2021</a:t>
            </a:r>
          </a:p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[4] Kim et al., RepAugment, arXiv 2024</a:t>
            </a:r>
          </a:p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[8] Kim et al., SG-SCL, ICASSP 2024</a:t>
            </a:r>
          </a:p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[9] Bae et al., Patch-Mix CL, Interspeech 2023</a:t>
            </a:r>
          </a:p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[21] Huang et al., Adaptive frequency filters as efficient global token mixers, ICCV 2023</a:t>
            </a:r>
          </a:p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[22] Ye et al., Differential Transformer, arXiv 2024</a:t>
            </a:r>
          </a:p>
          <a:p>
            <a:pPr algn="l">
              <a:defRPr sz="1200" b="0">
                <a:solidFill>
                  <a:srgbClr val="CCCCCC"/>
                </a:solidFill>
                <a:latin typeface="微软雅黑"/>
              </a:defRPr>
            </a:pPr>
            <a:r>
              <a:t>[23] Rocha et al., ICBHI respiratory sound database, 2018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3657600"/>
            <a:ext cx="11247120" cy="2286000"/>
          </a:xfrm>
          <a:prstGeom prst="rect">
            <a:avLst/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3657600"/>
            <a:ext cx="73152" cy="2286000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7947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96D6"/>
                </a:solidFill>
                <a:latin typeface="微软雅黑"/>
              </a:defRPr>
            </a:pPr>
            <a:r>
              <a:t>致谢与资助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4160520"/>
            <a:ext cx="109728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国家自然科学基金 (No. 82260024)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南昌大学第一附属医院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南昌大学影像与视觉表示实验室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代码开源: https://github.com/deegy666/ADD-RSC</a:t>
            </a: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</a:p>
          <a:p>
            <a:pPr algn="l">
              <a:defRPr sz="1400" b="0">
                <a:solidFill>
                  <a:srgbClr val="CCCCCC"/>
                </a:solidFill>
                <a:latin typeface="微软雅黑"/>
              </a:defRPr>
            </a:pPr>
            <a:r>
              <a:t>■ 感谢: patch-mix_contrastive_learning, FunASR社区, AdaptiveFrequencyFilters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61264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99"/>
                </a:solidFill>
                <a:latin typeface="微软雅黑"/>
              </a:defRPr>
            </a:pPr>
            <a:r>
              <a:t>Dong et al., Adaptive Differential Denoising for Respiratory Sounds Classification, Interspeech 2025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